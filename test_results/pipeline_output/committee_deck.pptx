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(Rm)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2023-06</c:v>
                </c:pt>
                <c:pt idx="1">
                  <c:v>2024-06</c:v>
                </c:pt>
                <c:pt idx="2">
                  <c:v>2025-06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214956.0</c:v>
                </c:pt>
                <c:pt idx="1">
                  <c:v>232088.0</c:v>
                </c:pt>
                <c:pt idx="2">
                  <c:v>252701.0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(Rm)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2023-06</c:v>
                </c:pt>
                <c:pt idx="1">
                  <c:v>2024-06</c:v>
                </c:pt>
                <c:pt idx="2">
                  <c:v>2025-06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6042.0</c:v>
                </c:pt>
                <c:pt idx="1">
                  <c:v>5817.0</c:v>
                </c:pt>
                <c:pt idx="2">
                  <c:v>6931.0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ND/EBITDA (x)</c:v>
                </c:pt>
              </c:strCache>
            </c:strRef>
          </c:tx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2023-06</c:v>
                </c:pt>
                <c:pt idx="1">
                  <c:v>2024-06</c:v>
                </c:pt>
                <c:pt idx="2">
                  <c:v>2025-06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4.3922542204568025</c:v>
                </c:pt>
                <c:pt idx="1">
                  <c:v>4.790269898573148</c:v>
                </c:pt>
                <c:pt idx="2">
                  <c:v>5.054537584764104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CFO (Rm)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2023-06</c:v>
                </c:pt>
                <c:pt idx="1">
                  <c:v>2024-06</c:v>
                </c:pt>
                <c:pt idx="2">
                  <c:v>2025-06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9831.0</c:v>
                </c:pt>
                <c:pt idx="1">
                  <c:v>13841.0</c:v>
                </c:pt>
                <c:pt idx="2">
                  <c:v>10984.0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Capex (Rm)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2023-06</c:v>
                </c:pt>
                <c:pt idx="1">
                  <c:v>2024-06</c:v>
                </c:pt>
                <c:pt idx="2">
                  <c:v>2025-06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4594.0</c:v>
                </c:pt>
                <c:pt idx="1">
                  <c:v>5718.0</c:v>
                </c:pt>
                <c:pt idx="2">
                  <c:v>6320.0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Credit Committee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E75B6"/>
                </a:solidFill>
              </a:defRPr>
            </a:pPr>
            <a:r>
              <a:t>Sample (Pty) Ltd  •  Rating: BBB  •  Recommendation: Caution  •  v0aca3bd4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This credit review covers Sample (Pty) Ltd for the period ending 2025-06-29.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Internal rating: BBB. Recommendation: Caution.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• Business Risk: Adequate (64.2/100)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• Financial Performance: Adequate (62.2/100)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• Liquidity: Weak (40.0/100)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• Leverage: Weak (22.5/100)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• Accounting Quality: Weak (40.0/100)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Revenue growth: 8.9% YoY.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2E75B6"/>
                </a:solidFill>
              </a:defRPr>
            </a:pPr>
            <a:r>
              <a:t>► Key risks and mitigants are detailed in the sections below.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Revenue &amp; EBITDA Trend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640080"/>
          <a:ext cx="1097280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ND/EBITDA Trend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640080"/>
          <a:ext cx="1097280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CFO vs Capex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640080"/>
          <a:ext cx="1097280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Financial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3-Year Financial Summary:</a:t>
            </a:r>
          </a:p>
          <a:p>
            <a:pPr>
              <a:spcAft>
                <a:spcPts val="800"/>
              </a:spcAft>
              <a:defRPr sz="1400"/>
            </a:pPr>
            <a:r>
              <a:t>Period | Revenue | EBITDA | EBITDA % | Net Debt | ND/EBITDA | Interest Cover</a:t>
            </a:r>
          </a:p>
          <a:p>
            <a:pPr>
              <a:spcAft>
                <a:spcPts val="800"/>
              </a:spcAft>
              <a:defRPr sz="1400"/>
            </a:pPr>
            <a:r>
              <a:t>2025-06-30 | 252,701.00 | 6,931.00 | 2.7% | 35,033.00 | 5.05x | 2.92x</a:t>
            </a:r>
          </a:p>
          <a:p>
            <a:pPr>
              <a:spcAft>
                <a:spcPts val="800"/>
              </a:spcAft>
              <a:defRPr sz="1400"/>
            </a:pPr>
            <a:r>
              <a:t>2024-06-30 | 232,088.00 | 5,817.00 | 2.5% | 27,865.00 | 4.79x | 3.05x</a:t>
            </a:r>
          </a:p>
          <a:p>
            <a:pPr>
              <a:spcAft>
                <a:spcPts val="800"/>
              </a:spcAft>
              <a:defRPr sz="1400"/>
            </a:pPr>
            <a:r>
              <a:t>2023-06-30 | 214,956.00 | 6,042.00 | 2.8% | 26,538.00 | 4.39x | 3.37x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Financial Performance Analysis — Score: 62.2/100, Rating: Adequate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Revenue of 252,701.00  grew 8.9% YoY .  EBITDA margin is 2.7%.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CFO/EBITDA of 1.58x indicates strong cash conversion from earnings.  FCF conversion supports debt service capacity.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EBITDA margin of 2.7% reflects operating efficiency and pricing power.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Revenue concentration and cyclicality are assessed in the business risk section.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Cash Flow &amp; Liquidity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Cash Flow &amp; Liquidity — Score: 40.0/100, Rating: Weak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12-month forward liquidity coverage (sources/uses) is 0.21x.  Liquidity surplus over 12 months: -77,275.02.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Opening cash of 9,946.00 against ST debt of 44,979.00  implies reliance on undrawn facilities or operating cash flow ...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Liquidity is critical; sources are insufficient to cover 12-month uses.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Current ratio below 1.0x indicates short-term obligations exceed liquid assets.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The liquidity profile is weak and influences the rating through governance caps where applicable.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Key metrics:</a:t>
            </a:r>
          </a:p>
          <a:p>
            <a:pPr>
              <a:spcAft>
                <a:spcPts val="800"/>
              </a:spcAft>
              <a:defRPr sz="1400"/>
            </a:pPr>
            <a:r>
              <a:t>- Current Ratio: 0.89</a:t>
            </a:r>
          </a:p>
          <a:p>
            <a:pPr>
              <a:spcAft>
                <a:spcPts val="800"/>
              </a:spcAft>
              <a:defRPr sz="1400"/>
            </a:pPr>
            <a:r>
              <a:t>- Liquidity Coverage Ratio: 0.21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2E75B6"/>
                </a:solidFill>
              </a:defRPr>
            </a:pPr>
            <a:r>
              <a:t>► 12-month forward liquidity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Balance Sheet &amp;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Leverage &amp; Capital Structure — Score: 22.5/100, Rating: Weak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Net debt/EBITDA (incl. leases) is 5.05x , increasing from 4.79x in the prior period.  Interest cover stands at 1.34x.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The increase in leverage reflects  higher debt and/or lower EBITDA.  Net debt ex-leases is negative (cash exceeds deb...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Leverage of 5.05x is  structurally elevated and inconsistent with investment-grade metrics.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Current leverage exceeds covenant threshold of 2.8x, indicating breach risk.  Under a 10% revenue stress scenario lev...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The leverage profile is weak and  constrains the rating through governance caps.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Key metrics:</a:t>
            </a:r>
          </a:p>
          <a:p>
            <a:pPr>
              <a:spcAft>
                <a:spcPts val="800"/>
              </a:spcAft>
              <a:defRPr sz="1400"/>
            </a:pPr>
            <a:r>
              <a:t>- Net Debt Ex Leases: -8,083.00</a:t>
            </a:r>
          </a:p>
          <a:p>
            <a:pPr>
              <a:spcAft>
                <a:spcPts val="800"/>
              </a:spcAft>
              <a:defRPr sz="1400"/>
            </a:pPr>
            <a:r>
              <a:t>- Net Debt Incl Leases: 35,033.00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Impairment sensitivity disclosed: -10; Impairment sensitivity disclosed: -10; Going concern uncertainty: -20; A_reven...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Stress Testing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A_revenue_minus_10pct: Interest cover 2.63x ND/EBITDA 5.62x</a:t>
            </a:r>
          </a:p>
          <a:p>
            <a:pPr>
              <a:spcAft>
                <a:spcPts val="800"/>
              </a:spcAft>
              <a:defRPr sz="1400"/>
            </a:pPr>
            <a:r>
              <a:t>B_interest_plus_200bps: Interest cover 2.90x</a:t>
            </a:r>
          </a:p>
          <a:p>
            <a:pPr>
              <a:spcAft>
                <a:spcPts val="800"/>
              </a:spcAft>
              <a:defRPr sz="1400"/>
            </a:pPr>
            <a:r>
              <a:t>C_working_capital_shock: Cash after shock: -15,324.10</a:t>
            </a:r>
          </a:p>
          <a:p>
            <a:pPr>
              <a:spcAft>
                <a:spcPts val="800"/>
              </a:spcAft>
              <a:defRPr sz="1400"/>
            </a:pPr>
            <a:r>
              <a:t>D_margin_compression_200bps: Interest cover 0.79x ND/EBITDA 18.66x</a:t>
            </a:r>
          </a:p>
          <a:p>
            <a:pPr>
              <a:spcAft>
                <a:spcPts val="800"/>
              </a:spcAft>
              <a:defRPr sz="1400"/>
            </a:pPr>
            <a:r>
              <a:t>E_combined: Interest cover 2.61x ND/EBITDA 5.62x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2E75B6"/>
                </a:solidFill>
              </a:defRPr>
            </a:pPr>
            <a:r>
              <a:t>► Breaches under stress trigger governance notch downgrades.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Covenants &amp;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Covenants &amp; Headroom — Score: 10.0/100, Rating: Weak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Covenant terms: max leverage 2.8x, min interest cover 3.5x.  Current metrics indicate covenant breach.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Leverage headroom: -83.6% to covenant limit.  Interest cover headroom: -61.7%.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Breach triggers rating cap under governance (max BB-).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Refer to Note 48 (borrowings) and Note 43.4.3 for covenant terms and cure rights.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Covenant headroom is weak and directly influences the final rating where breach applies.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Key metrics:</a:t>
            </a:r>
          </a:p>
          <a:p>
            <a:pPr>
              <a:spcAft>
                <a:spcPts val="800"/>
              </a:spcAft>
              <a:defRPr sz="1400"/>
            </a:pPr>
            <a:r>
              <a:t>- Coverage Headroom Pct: -61.70</a:t>
            </a:r>
          </a:p>
          <a:p>
            <a:pPr>
              <a:spcAft>
                <a:spcPts val="800"/>
              </a:spcAft>
              <a:defRPr sz="1400"/>
            </a:pPr>
            <a:r>
              <a:t>- Leverage Headroom Pct: -83.60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Internal Rating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Internal rating: BBB. Aggregate score: 48.1/100. Top positive drivers: Business Risk (Adequate), Financial Performanc...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Recommendation: Caution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Key drivers monitored: net_debt_ex_leases, ebitda, net_debt_incl_leases, interest_cover, net_debt_to_ebitda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