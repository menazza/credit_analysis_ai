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Credit Committee — Sample (Pty) Ltd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Rating: BBB | Recommendation: Maintain | cbb34e21-3793-4993-ad71-01f39aaaf7e7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credit review covers Sample (Pty) Ltd for the period ending 2025-06-29.</a:t>
            </a:r>
          </a:p>
          <a:p/>
          <a:p>
            <a:r>
              <a:t>Internal rating: BBB. Recommendation: Maintain.</a:t>
            </a:r>
          </a:p>
          <a:p/>
          <a:p>
            <a:r>
              <a:t>  Business Risk: N/A (64.2/100)</a:t>
            </a:r>
          </a:p>
          <a:p/>
          <a:p>
            <a:r>
              <a:t>  Financial Performance: N/A (62.2/100)</a:t>
            </a:r>
          </a:p>
          <a:p/>
          <a:p>
            <a:r>
              <a:t>  Liquidity: N/A (58.0/100)</a:t>
            </a:r>
          </a:p>
          <a:p/>
          <a:p>
            <a:r>
              <a:t>  Leverage: N/A (22.5/100)</a:t>
            </a:r>
          </a:p>
          <a:p/>
          <a:p>
            <a:r>
              <a:t>  Accounting Quality: N/A (45.0/100)</a:t>
            </a:r>
          </a:p>
          <a:p/>
          <a:p>
            <a:r>
              <a:t>Revenue growth: 8.9% YoY.</a:t>
            </a:r>
          </a:p>
          <a:p/>
          <a:p>
            <a:r>
              <a:t>Net debt/EBITDA (incl. leases): 5.05x.</a:t>
            </a:r>
          </a:p>
          <a:p/>
          <a:p>
            <a:r>
              <a:t>Key risks and mitigants are set out in the sections below.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Performance Analysis (Score: 62.2/100, Rating: Adequate)</a:t>
            </a:r>
          </a:p>
          <a:p>
            <a:r>
              <a:t>  Revenue: 252,701.00</a:t>
            </a:r>
          </a:p>
          <a:p>
            <a:r>
              <a:t>  Revenue Growth Pct: 8.9</a:t>
            </a:r>
          </a:p>
          <a:p>
            <a:r>
              <a:t>  Ebitda Growth Pct: 19.2</a:t>
            </a:r>
          </a:p>
          <a:p>
            <a:r>
              <a:t>  Pat Growth Pct: 21.9</a:t>
            </a:r>
          </a:p>
          <a:p>
            <a:r>
              <a:t>  Ebitda Margin Pct: 2.7</a:t>
            </a:r>
          </a:p>
          <a:p>
            <a:r>
              <a:t>  Operating Profit: 14,943.00</a:t>
            </a:r>
          </a:p>
          <a:p>
            <a:r>
              <a:t>  Profit After Tax: 7,583.00</a:t>
            </a:r>
          </a:p>
          <a:p>
            <a:r>
              <a:t>  Cfo To Ebitda: 1.58</a:t>
            </a:r>
          </a:p>
          <a:p>
            <a:r>
              <a:t>  Fcf Conversion: 2.5</a:t>
            </a:r>
          </a:p>
          <a:p>
            <a:r>
              <a:t>  Evidence: Note 27: Depreciation, Note 30: Operating expenses, Note 33: Finance costs, Note 34: Tax</a:t>
            </a:r>
          </a:p>
          <a:p>
            <a:r>
              <a:t>  Financial performance: Adequate. EBITDA margin 2.7%.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 &amp; Liquidity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Cash Flow &amp; Liquidity (Score: 58.0/100, Rating: Adequate)</a:t>
            </a:r>
          </a:p>
          <a:p>
            <a:r>
              <a:t>  Net Cfo: 10,984.00</a:t>
            </a:r>
          </a:p>
          <a:p>
            <a:r>
              <a:t>  Capex: -6,320.00</a:t>
            </a:r>
          </a:p>
          <a:p>
            <a:r>
              <a:t>  Fcf: 17,304.00</a:t>
            </a:r>
          </a:p>
          <a:p>
            <a:r>
              <a:t>  Current Ratio: 0.89</a:t>
            </a:r>
          </a:p>
          <a:p>
            <a:r>
              <a:t>  Quick Ratio: 0.23</a:t>
            </a:r>
          </a:p>
          <a:p>
            <a:r>
              <a:t>  Cash: 9,946.00</a:t>
            </a:r>
          </a:p>
          <a:p>
            <a:r>
              <a:t>  St Debt: 44,979.00</a:t>
            </a:r>
          </a:p>
          <a:p>
            <a:r>
              <a:t>  St Debt To Cash: 4.52</a:t>
            </a:r>
          </a:p>
          <a:p>
            <a:r>
              <a:t>  Lease Adjusted Liquidity: -33,170.00</a:t>
            </a:r>
          </a:p>
          <a:p>
            <a:r>
              <a:t>  Risk flags: ST debt/cash elevated</a:t>
            </a:r>
          </a:p>
          <a:p>
            <a:r>
              <a:t>  Evidence: Note 38: Cash flows, Note 21: Borrowings, Note 20: Lease liabilities, Note 48: Going concern</a:t>
            </a:r>
          </a:p>
          <a:p>
            <a:r>
              <a:t>  Liquidity: Adequate. Current ratio 0.89x. Cash 9,946.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 Sheet &amp; Leverage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Leverage &amp; Capital Structure (Score: 22.5/100, Rating: Weak)</a:t>
            </a:r>
          </a:p>
          <a:p>
            <a:r>
              <a:t>  Net Debt Ex Leases: -8,083.00</a:t>
            </a:r>
          </a:p>
          <a:p>
            <a:r>
              <a:t>  Net Debt Incl Leases: 35,033.00</a:t>
            </a:r>
          </a:p>
          <a:p>
            <a:r>
              <a:t>  Gross Debt: 44,979.00</a:t>
            </a:r>
          </a:p>
          <a:p>
            <a:r>
              <a:t>  Debt To Capital: 0.8568</a:t>
            </a:r>
          </a:p>
          <a:p>
            <a:r>
              <a:t>  Net Debt To Ebitda Ex Leases: -1.17</a:t>
            </a:r>
          </a:p>
          <a:p>
            <a:r>
              <a:t>  Net Debt To Ebitda Incl Leases: 5.05</a:t>
            </a:r>
          </a:p>
          <a:p>
            <a:r>
              <a:t>  Ebitda To Interest: 1.34</a:t>
            </a:r>
          </a:p>
          <a:p>
            <a:r>
              <a:t>  Fixed Charge Cover: 0.73</a:t>
            </a:r>
          </a:p>
          <a:p>
            <a:r>
              <a:t>  Lease Adjusted Interest Cover: 0.73</a:t>
            </a:r>
          </a:p>
          <a:p>
            <a:r>
              <a:t>  Risk flags: High leverage (ND/EBITDA &gt; 4x); Interest cover below 2x</a:t>
            </a:r>
          </a:p>
          <a:p>
            <a:r>
              <a:t>  Evidence: Note 21: Borrowings, Note 20: Lease liabilities, Note 39: Contingent liabilities</a:t>
            </a:r>
          </a:p>
          <a:p>
            <a:r>
              <a:t>  Leverage: Weak. ND/EBITDA 5.05x. Interest cover 1.34x.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Accounting risk: significant judgement; Accounting risk: deferred tax; financial_instruments (Note 1): HIGH; A_revenue_minus_10pct: ND/EBITDA above 3x; C_working_capital_shock: Cash negative after shock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Stress Testing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A_revenue_minus_10pct: Interest cover 2.63x ND/EBITDA 5.62x</a:t>
            </a:r>
          </a:p>
          <a:p>
            <a:r>
              <a:t>B_interest_plus_200bps: Interest cover 2.90x</a:t>
            </a:r>
          </a:p>
          <a:p>
            <a:r>
              <a:t>C_working_capital_shock: Cash after shock: -15,324.10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Rating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 rating: BBB. Aggregate score: 52.2/100. Business Risk: . Financial Performance: . Liquidity: 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Recommendation: Maintain</a:t>
            </a:r>
          </a:p>
          <a:p/>
          <a:p>
            <a:r>
              <a:t>Key drivers: ebitda, net_debt_ex_leases, net_debt_incl_leases, interest_cover, net_debt_to_ebitda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Section 'appendices': content to be populated.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