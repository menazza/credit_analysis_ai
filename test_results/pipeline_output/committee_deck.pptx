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Deal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/>
            </a:pPr>
            <a:r>
              <a:t>Borrower: Sample (Pty) Ltd</a:t>
            </a:r>
          </a:p>
          <a:p>
            <a:pPr>
              <a:spcAft>
                <a:spcPts val="800"/>
              </a:spcAft>
              <a:defRPr sz="1400"/>
            </a:pPr>
            <a:r>
              <a:t>Sector: FMCG / Retail</a:t>
            </a:r>
          </a:p>
          <a:p>
            <a:pPr>
              <a:spcAft>
                <a:spcPts val="800"/>
              </a:spcAft>
              <a:defRPr sz="1400"/>
            </a:pPr>
            <a:r>
              <a:t>Facility type: Annual Review Facility</a:t>
            </a:r>
          </a:p>
          <a:p>
            <a:pPr>
              <a:spcAft>
                <a:spcPts val="800"/>
              </a:spcAft>
              <a:defRPr sz="1400"/>
            </a:pPr>
            <a:r>
              <a:t>Exposure amount: 35,033.00</a:t>
            </a:r>
          </a:p>
          <a:p>
            <a:pPr>
              <a:spcAft>
                <a:spcPts val="800"/>
              </a:spcAft>
              <a:defRPr sz="1400"/>
            </a:pPr>
            <a:r>
              <a:t>Security summary: See Security &amp; Collateral section</a:t>
            </a:r>
          </a:p>
          <a:p>
            <a:pPr>
              <a:spcAft>
                <a:spcPts val="800"/>
              </a:spcAft>
              <a:defRPr sz="1400"/>
            </a:pPr>
            <a:r>
              <a:t>Internal rating: BBB</a:t>
            </a:r>
          </a:p>
          <a:p>
            <a:pPr>
              <a:spcAft>
                <a:spcPts val="800"/>
              </a:spcAft>
              <a:defRPr sz="1400"/>
            </a:pPr>
            <a:r>
              <a:t>Recommendation: Caution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/>
            </a:pPr>
            <a:r>
              <a:t>Sample (Pty) Ltd's credit profile is currently rated at BBB, with a recommendation of caution due to several financia...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2E75B6"/>
                </a:solidFill>
              </a:defRPr>
            </a:pPr>
            <a:r>
              <a:t>► Trajectory and watchpoints for committee decision.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Business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/>
            </a:pPr>
            <a:r>
              <a:t>Sample (Pty) Ltd operates across 10 segments, contributing to a diversified revenue stream of 252,701.00, which grew ...</a:t>
            </a:r>
          </a:p>
          <a:p>
            <a:pPr>
              <a:spcAft>
                <a:spcPts val="800"/>
              </a:spcAft>
              <a:defRPr sz="1400"/>
            </a:pPr>
          </a:p>
          <a:p>
            <a:pPr>
              <a:spcAft>
                <a:spcPts val="800"/>
              </a:spcAft>
              <a:defRPr sz="1400"/>
            </a:pPr>
            <a:r>
              <a:t>EBITDA margin of 2.7%. Revenue growth 8.9% YoY indicates market positioning.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/>
            </a:pPr>
            <a:r>
              <a:t>Company operates across 10 business segments.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Income Statement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/>
            </a:pPr>
            <a:r>
              <a:t>The financial performance of Sample (Pty) Ltd is rated as adequate, with revenue growth of 8.9% and EBITDA growth of ...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Cash Flow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/>
            </a:pPr>
            <a:r>
              <a:t>The liquidity position of Sample (Pty) Ltd is weak, with a current ratio of 0.89 and a quick ratio of 0.23, indicatin...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Balance Sheet &amp; Leverage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/>
            </a:pPr>
            <a:r>
              <a:t>Sample (Pty) Ltd's leverage profile is concerning, with a net debt to EBITDA ratio of 5.05x, indicating high financia...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Liquidity 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/>
            </a:pPr>
            <a:r>
              <a:t>Cash on hand: 9,946.00</a:t>
            </a:r>
          </a:p>
          <a:p>
            <a:pPr>
              <a:spcAft>
                <a:spcPts val="800"/>
              </a:spcAft>
              <a:defRPr sz="1400"/>
            </a:pPr>
            <a:r>
              <a:t>Current ratio: 20.773078906652913</a:t>
            </a:r>
          </a:p>
          <a:p>
            <a:pPr>
              <a:spcAft>
                <a:spcPts val="800"/>
              </a:spcAft>
              <a:defRPr sz="1400"/>
            </a:pPr>
            <a:r>
              <a:t>Quick ratio: N/A</a:t>
            </a:r>
          </a:p>
          <a:p>
            <a:pPr>
              <a:spcAft>
                <a:spcPts val="800"/>
              </a:spcAft>
              <a:defRPr sz="1400"/>
            </a:pPr>
            <a:r>
              <a:t>Undrawn facilities: 0.00</a:t>
            </a:r>
          </a:p>
          <a:p>
            <a:pPr>
              <a:spcAft>
                <a:spcPts val="800"/>
              </a:spcAft>
              <a:defRPr sz="1400"/>
            </a:pPr>
          </a:p>
          <a:p>
            <a:pPr>
              <a:spcAft>
                <a:spcPts val="800"/>
              </a:spcAft>
              <a:defRPr sz="1400"/>
            </a:pPr>
            <a:r>
              <a:t>The liquidity position of Sample (Pty) Ltd is weak, with a current ratio of 0.89 and a quick ratio of 0.23, indicatin...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/>
            </a:pPr>
            <a:r>
              <a:t>Risk | Severity | Trend | Mitigant</a:t>
            </a:r>
          </a:p>
          <a:p>
            <a:pPr>
              <a:spcAft>
                <a:spcPts val="800"/>
              </a:spcAft>
              <a:defRPr sz="1400"/>
            </a:pPr>
            <a:r>
              <a:t>- Key risks for Sample (Pty) Ltd include high financial leverage, weak liquidity, and covenant br | Severity: High | ...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Rating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/>
            </a:pPr>
            <a:r>
              <a:t>Quantitative score: See scorecard</a:t>
            </a:r>
          </a:p>
          <a:p>
            <a:pPr>
              <a:spcAft>
                <a:spcPts val="800"/>
              </a:spcAft>
              <a:defRPr sz="1400"/>
            </a:pPr>
            <a:r>
              <a:t>Qualitative overlay: See scorecard / commentary</a:t>
            </a:r>
          </a:p>
          <a:p>
            <a:pPr>
              <a:spcAft>
                <a:spcPts val="800"/>
              </a:spcAft>
              <a:defRPr sz="1400"/>
            </a:pPr>
            <a:r>
              <a:t>Final internal rating: BBB</a:t>
            </a:r>
          </a:p>
          <a:p>
            <a:pPr>
              <a:spcAft>
                <a:spcPts val="800"/>
              </a:spcAft>
              <a:defRPr sz="1400"/>
            </a:pPr>
            <a:r>
              <a:t>Probability of default (PD): 0.80%</a:t>
            </a:r>
          </a:p>
          <a:p>
            <a:pPr>
              <a:spcAft>
                <a:spcPts val="800"/>
              </a:spcAft>
              <a:defRPr sz="1400"/>
            </a:pPr>
            <a:r>
              <a:t>Loss given default (LGD): 53.73%</a:t>
            </a:r>
          </a:p>
          <a:p>
            <a:pPr>
              <a:spcAft>
                <a:spcPts val="800"/>
              </a:spcAft>
              <a:defRPr sz="1400"/>
            </a:pPr>
            <a:r>
              <a:t>Exposure at default (EAD): 35,033.00</a:t>
            </a:r>
          </a:p>
          <a:p>
            <a:pPr>
              <a:spcAft>
                <a:spcPts val="800"/>
              </a:spcAft>
              <a:defRPr sz="1400"/>
            </a:pPr>
            <a:r>
              <a:t>Expected loss (EL): 150.59</a:t>
            </a:r>
          </a:p>
          <a:p>
            <a:pPr>
              <a:spcAft>
                <a:spcPts val="800"/>
              </a:spcAft>
              <a:defRPr sz="1400"/>
            </a:pPr>
            <a:r>
              <a:t>Outlook: Stable</a:t>
            </a:r>
          </a:p>
          <a:p>
            <a:pPr>
              <a:spcAft>
                <a:spcPts val="800"/>
              </a:spcAft>
              <a:defRPr sz="1400"/>
            </a:pPr>
          </a:p>
          <a:p>
            <a:pPr>
              <a:spcAft>
                <a:spcPts val="800"/>
              </a:spcAft>
              <a:defRPr sz="1400"/>
            </a:pPr>
            <a:r>
              <a:t>The internal rating of Sample (Pty) Ltd at BBB reflects a balance between adequate business risk and significant fina...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/>
            </a:pPr>
            <a:r>
              <a:t>Decision: Caution</a:t>
            </a:r>
          </a:p>
          <a:p>
            <a:pPr>
              <a:spcAft>
                <a:spcPts val="800"/>
              </a:spcAft>
              <a:defRPr sz="1400"/>
            </a:pPr>
          </a:p>
          <a:p>
            <a:pPr>
              <a:spcAft>
                <a:spcPts val="800"/>
              </a:spcAft>
              <a:defRPr sz="1400"/>
            </a:pPr>
            <a:r>
              <a:t>Conditions precedent:</a:t>
            </a:r>
          </a:p>
          <a:p>
            <a:pPr>
              <a:spcAft>
                <a:spcPts val="800"/>
              </a:spcAft>
              <a:defRPr sz="1400"/>
            </a:pPr>
            <a:r>
              <a:t>The recommendation for Sample (Pty) Ltd is to proceed with caution, subject to specific conditions:</a:t>
            </a:r>
          </a:p>
          <a:p>
            <a:pPr>
              <a:spcAft>
                <a:spcPts val="800"/>
              </a:spcAft>
              <a:defRPr sz="1400"/>
            </a:pPr>
            <a:r>
              <a:t>- Monitor covenant breaches closely and engage early with lenders to explore potential remedies or waivers.</a:t>
            </a:r>
          </a:p>
          <a:p>
            <a:pPr>
              <a:spcAft>
                <a:spcPts val="800"/>
              </a:spcAft>
              <a:defRPr sz="1400"/>
            </a:pPr>
            <a:r>
              <a:t>- Monitor leverage (net debt to EBITDA) quarterly, ensuring it remains within acceptable limits to avoid further cove...</a:t>
            </a:r>
          </a:p>
          <a:p>
            <a:pPr>
              <a:spcAft>
                <a:spcPts val="800"/>
              </a:spcAft>
              <a:defRPr sz="1400"/>
            </a:pPr>
          </a:p>
          <a:p>
            <a:pPr>
              <a:spcAft>
                <a:spcPts val="800"/>
              </a:spcAft>
              <a:defRPr sz="1400"/>
            </a:pPr>
            <a:r>
              <a:t>Monitoring requirements:</a:t>
            </a:r>
          </a:p>
          <a:p>
            <a:pPr>
              <a:spcAft>
                <a:spcPts val="800"/>
              </a:spcAft>
              <a:defRPr sz="1400"/>
            </a:pPr>
            <a:r>
              <a:t>The monitoring plan for Sample (Pty) Ltd includes:</a:t>
            </a:r>
          </a:p>
          <a:p>
            <a:pPr>
              <a:spcAft>
                <a:spcPts val="800"/>
              </a:spcAft>
              <a:defRPr sz="1400"/>
            </a:pPr>
            <a:r>
              <a:t>- Quarterly reviews of financial performance, focusing on liquidity and leverage metrics.</a:t>
            </a:r>
          </a:p>
          <a:p>
            <a:pPr>
              <a:spcAft>
                <a:spcPts val="800"/>
              </a:spcAft>
              <a:defRPr sz="1400"/>
            </a:pPr>
            <a:r>
              <a:t>- Regular engagement with lenders to address covenant breaches and explore potential waivers or amendments.</a:t>
            </a:r>
          </a:p>
          <a:p>
            <a:pPr>
              <a:spcAft>
                <a:spcPts val="800"/>
              </a:spcAft>
              <a:defRPr sz="1400"/>
            </a:pPr>
            <a:r>
              <a:t>- Continuous assessment of stress testing results to identify emerging risks and develop mitigation strategies.</a:t>
            </a:r>
          </a:p>
          <a:p>
            <a:pPr>
              <a:spcAft>
                <a:spcPts val="800"/>
              </a:spcAft>
              <a:defRPr sz="1400"/>
            </a:pPr>
            <a:r>
              <a:t>- Ongoing evaluation of accounting disclosures to ensure transparency and compliance with IFRS standards.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